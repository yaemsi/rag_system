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f8GMuKlamPrT23QzeqGb32S9L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653FC7-9D99-4665-8A9A-9E626BB3FD08}">
  <a:tblStyle styleId="{D9653FC7-9D99-4665-8A9A-9E626BB3FD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8FD9D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nomic
baseline</c:v>
                  </c:pt>
                  <c:pt idx="1">
                    <c:v>mxbai
(chunk=400)</c:v>
                  </c:pt>
                  <c:pt idx="2">
                    <c:v>+ filter
fixes</c:v>
                  </c:pt>
                  <c:pt idx="3">
                    <c:v>+ inferred_
suffix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0.592</c:v>
                </c:pt>
                <c:pt idx="1">
                  <c:v>0.633</c:v>
                </c:pt>
                <c:pt idx="2">
                  <c:v>0.612</c:v>
                </c:pt>
                <c:pt idx="3">
                  <c:v>0.714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1FB6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nomic
baseline</c:v>
                  </c:pt>
                  <c:pt idx="1">
                    <c:v>mxbai
(chunk=400)</c:v>
                  </c:pt>
                  <c:pt idx="2">
                    <c:v>+ filter
fixes</c:v>
                  </c:pt>
                  <c:pt idx="3">
                    <c:v>+ inferred_
suffix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0.714</c:v>
                </c:pt>
                <c:pt idx="1">
                  <c:v>0.694</c:v>
                </c:pt>
                <c:pt idx="2">
                  <c:v>0.714</c:v>
                </c:pt>
                <c:pt idx="3">
                  <c:v>0.898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1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3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B6A8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E85D5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OK (rank 1) — 71.4%</c:v>
                </c:pt>
                <c:pt idx="1">
                  <c:v>LATE (rank 2–10) — 18.4%</c:v>
                </c:pt>
                <c:pt idx="2">
                  <c:v>FILTER_KILL — 10.2%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</c:v>
                </c:pt>
                <c:pt idx="1">
                  <c:v>9</c:v>
                </c:pt>
                <c:pt idx="2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A23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k=5</c:v>
                </c:pt>
              </c:strCache>
            </c:strRef>
          </c:tx>
          <c:spPr>
            <a:solidFill>
              <a:srgbClr val="1FB6A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Token F1</c:v>
                  </c:pt>
                  <c:pt idx="1">
                    <c:v>ROUGE-2</c:v>
                  </c:pt>
                  <c:pt idx="2">
                    <c:v>ROUGE-L</c:v>
                  </c:pt>
                  <c:pt idx="3">
                    <c:v>Coverage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0.3038</c:v>
                </c:pt>
                <c:pt idx="1">
                  <c:v>0.1708</c:v>
                </c:pt>
                <c:pt idx="2">
                  <c:v>0.221</c:v>
                </c:pt>
                <c:pt idx="3">
                  <c:v>0.4024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k=10</c:v>
                </c:pt>
              </c:strCache>
            </c:strRef>
          </c:tx>
          <c:spPr>
            <a:solidFill>
              <a:srgbClr val="E85D5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Token F1</c:v>
                  </c:pt>
                  <c:pt idx="1">
                    <c:v>ROUGE-2</c:v>
                  </c:pt>
                  <c:pt idx="2">
                    <c:v>ROUGE-L</c:v>
                  </c:pt>
                  <c:pt idx="3">
                    <c:v>Coverage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0.2483</c:v>
                </c:pt>
                <c:pt idx="1">
                  <c:v>0.1359</c:v>
                </c:pt>
                <c:pt idx="2">
                  <c:v>0.1865</c:v>
                </c:pt>
                <c:pt idx="3">
                  <c:v>0.4658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A23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17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4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image" Target="../media/image4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3.png"/><Relationship Id="rId8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30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3.xml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822960"/>
            <a:ext cx="109728" cy="109728"/>
          </a:xfrm>
          <a:prstGeom prst="ellipse">
            <a:avLst/>
          </a:prstGeom>
          <a:solidFill>
            <a:srgbClr val="1FB6A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8887968" y="877824"/>
            <a:ext cx="374904" cy="0"/>
          </a:xfrm>
          <a:prstGeom prst="straightConnector1">
            <a:avLst/>
          </a:prstGeom>
          <a:noFill/>
          <a:ln cap="flat" cmpd="sng" w="12700">
            <a:solidFill>
              <a:srgbClr val="1FB6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1"/>
          <p:cNvSpPr/>
          <p:nvPr/>
        </p:nvSpPr>
        <p:spPr>
          <a:xfrm>
            <a:off x="9372600" y="822960"/>
            <a:ext cx="109728" cy="109728"/>
          </a:xfrm>
          <a:prstGeom prst="ellipse">
            <a:avLst/>
          </a:prstGeom>
          <a:solidFill>
            <a:srgbClr val="1FB6A8">
              <a:alpha val="3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1"/>
          <p:cNvCxnSpPr/>
          <p:nvPr/>
        </p:nvCxnSpPr>
        <p:spPr>
          <a:xfrm>
            <a:off x="9482328" y="877824"/>
            <a:ext cx="374904" cy="0"/>
          </a:xfrm>
          <a:prstGeom prst="straightConnector1">
            <a:avLst/>
          </a:prstGeom>
          <a:noFill/>
          <a:ln cap="flat" cmpd="sng" w="12700">
            <a:solidFill>
              <a:srgbClr val="1FB6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9966960" y="822960"/>
            <a:ext cx="109728" cy="109728"/>
          </a:xfrm>
          <a:prstGeom prst="ellipse">
            <a:avLst/>
          </a:prstGeom>
          <a:solidFill>
            <a:srgbClr val="1FB6A8">
              <a:alpha val="2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1"/>
          <p:cNvCxnSpPr/>
          <p:nvPr/>
        </p:nvCxnSpPr>
        <p:spPr>
          <a:xfrm>
            <a:off x="10076688" y="877824"/>
            <a:ext cx="374904" cy="0"/>
          </a:xfrm>
          <a:prstGeom prst="straightConnector1">
            <a:avLst/>
          </a:prstGeom>
          <a:noFill/>
          <a:ln cap="flat" cmpd="sng" w="12700">
            <a:solidFill>
              <a:srgbClr val="1FB6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10561320" y="822960"/>
            <a:ext cx="109728" cy="109728"/>
          </a:xfrm>
          <a:prstGeom prst="ellipse">
            <a:avLst/>
          </a:prstGeom>
          <a:solidFill>
            <a:srgbClr val="1FB6A8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1"/>
          <p:cNvCxnSpPr/>
          <p:nvPr/>
        </p:nvCxnSpPr>
        <p:spPr>
          <a:xfrm>
            <a:off x="10671048" y="877824"/>
            <a:ext cx="374904" cy="0"/>
          </a:xfrm>
          <a:prstGeom prst="straightConnector1">
            <a:avLst/>
          </a:prstGeom>
          <a:noFill/>
          <a:ln cap="flat" cmpd="sng" w="12700">
            <a:solidFill>
              <a:srgbClr val="1FB6A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11155680" y="822960"/>
            <a:ext cx="109728" cy="109728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31520" y="21031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QUESTION ANSWERING SYSTEM OVER A DOCUMENT CORPUS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31520" y="2514600"/>
            <a:ext cx="106984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Retrieval-Augmented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Generation System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31520" y="42519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Technical Challenge Review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731520" y="493776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731520" y="598932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Yassir El Mesbahi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BB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BBD"/>
                </a:solidFill>
                <a:latin typeface="Calibri"/>
                <a:ea typeface="Calibri"/>
                <a:cs typeface="Calibri"/>
                <a:sym typeface="Calibri"/>
              </a:rPr>
              <a:t>Coveo  •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What I'll Walk Through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169164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77240" y="198424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028" y="212003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554480" y="1856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554480" y="203911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The Data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554480" y="24048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Two document populations, query characteristics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080760" y="169164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309360" y="198424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5148" y="212003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"/>
          <p:cNvSpPr/>
          <p:nvPr/>
        </p:nvSpPr>
        <p:spPr>
          <a:xfrm>
            <a:off x="7086600" y="18562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086600" y="203911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7086600" y="240487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Hybrid retrieval + metadata filter + grounded LLM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48640" y="310896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777240" y="340156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28" y="353735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1554480" y="327355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554480" y="345643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Results &amp; Progression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554480" y="382219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From R@10=0.71 to 0.90 — what moved the needle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80760" y="310896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309360" y="340156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5148" y="353735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/>
          <p:nvPr/>
        </p:nvSpPr>
        <p:spPr>
          <a:xfrm>
            <a:off x="7086600" y="327355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086600" y="345643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Experiments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7086600" y="382219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Reranker, vLLM migration, model comparisons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48640" y="452628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77240" y="481888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028" y="495467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1554480" y="46908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554480" y="48737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Issues &amp; Root Causes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554480" y="523951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Honest accounting of what's still broken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80760" y="4526280"/>
            <a:ext cx="5074920" cy="118872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309360" y="4818888"/>
            <a:ext cx="603504" cy="603504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45148" y="4954676"/>
            <a:ext cx="331927" cy="33192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/>
          <p:nvPr/>
        </p:nvSpPr>
        <p:spPr>
          <a:xfrm>
            <a:off x="7086600" y="46908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D9D6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B9D9D6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086600" y="4873752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Next Steps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086600" y="5239512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Prioritized roadmap with concrete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1 — THE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Two Document Populations, One Corpus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48640" y="169164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1A23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" name="Google Shape;8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411" y="214541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"/>
          <p:cNvSpPr/>
          <p:nvPr/>
        </p:nvSpPr>
        <p:spPr>
          <a:xfrm>
            <a:off x="1645920" y="2057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Coveo Documentation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645920" y="2468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2,653 docs  •  73% of corpus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68680" y="2999232"/>
            <a:ext cx="73152" cy="7315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1097280" y="29260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IDs are URLs (docs.coveo.com/...)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868680" y="3566160"/>
            <a:ext cx="73152" cy="7315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1097280" y="349300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Unstructured developer &amp; admin docs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68680" y="4133088"/>
            <a:ext cx="73152" cy="7315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097280" y="4059936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 metadata — prefix/suffix/version all null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68680" y="4700016"/>
            <a:ext cx="73152" cy="7315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1097280" y="462686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Length: 115 chars → 1.1 MB (8 outliers &gt; 100k)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63640" y="1691640"/>
            <a:ext cx="5349240" cy="374904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1A23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583680" y="2011680"/>
            <a:ext cx="594360" cy="594360"/>
          </a:xfrm>
          <a:prstGeom prst="ellipse">
            <a:avLst/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7411" y="214541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7360920" y="20574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Synthetic Product Catalogue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7360920" y="2468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977 docs  •  27% of corpus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583680" y="2999232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812280" y="292608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IDs are large integers (e.g. 947813441311)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583680" y="3566160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812280" y="3493008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Templated: Overview / Features / Pricing / FAQ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583680" y="413308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812280" y="4059936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Has metadata — but ~40% missing product_suffix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583680" y="4700016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6812280" y="462686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Very uniform length: 5,000–7,000 chars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1 — THE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Query Sets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48640" y="185623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164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" y="2560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3291840" y="185623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49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383280" y="2560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035040" y="16916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035040" y="185623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26480" y="2560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Bonus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8778240" y="1691640"/>
            <a:ext cx="2606040" cy="1371600"/>
          </a:xfrm>
          <a:prstGeom prst="roundRect">
            <a:avLst>
              <a:gd fmla="val 5333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8778240" y="1856232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8869680" y="25603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Gold doc per query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(train/valid)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3337560"/>
            <a:ext cx="11064240" cy="1417320"/>
          </a:xfrm>
          <a:prstGeom prst="roundRect">
            <a:avLst>
              <a:gd fmla="val 6452" name="adj"/>
            </a:avLst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868680" y="3593592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82219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2011680" y="3520440"/>
            <a:ext cx="9326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Key EDA Finding: Gold Answers Are Paraphrased, Not Extracted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2011680" y="3904488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Answers are fluent multi-sentence summaries (avg 379 chars). This makes Exact Match structurally always 0 — it directly motivated dropping EM for ROUGE-2 / ROUGE-L and Token F1.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48640" y="4983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Query type distribution (train, n=164):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50" y="5303525"/>
            <a:ext cx="67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lang="en-US" sz="1600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97280" y="534009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Feature / config lookup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251960" y="53035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28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800600" y="534009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Enumeration ("What are...")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7955280" y="53035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8503920" y="534009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Procedural ("How to...")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8640" y="58064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097280" y="584301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Definition ("What is...")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251960" y="58064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800600" y="584301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Aggregation ("How many...")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7955280" y="580644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8503920" y="5843016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Temporal ("When...")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Query to Grounded Answer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40080" y="1920240"/>
            <a:ext cx="2331720" cy="2377440"/>
          </a:xfrm>
          <a:prstGeom prst="roundRect">
            <a:avLst>
              <a:gd fmla="val 3922" name="adj"/>
            </a:avLst>
          </a:prstGeom>
          <a:solidFill>
            <a:srgbClr val="162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1440180" y="2194560"/>
            <a:ext cx="731520" cy="73152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77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/>
          <p:nvPr/>
        </p:nvSpPr>
        <p:spPr>
          <a:xfrm>
            <a:off x="731520" y="30632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Pre-Filter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77240" y="361188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Prefix / suffix / 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scoring with safe fallback tiers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3159252" y="3044952"/>
            <a:ext cx="128016" cy="128016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" name="Google Shape;162;p5"/>
          <p:cNvCxnSpPr/>
          <p:nvPr/>
        </p:nvCxnSpPr>
        <p:spPr>
          <a:xfrm>
            <a:off x="2971800" y="310896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"/>
          <p:cNvSpPr/>
          <p:nvPr/>
        </p:nvSpPr>
        <p:spPr>
          <a:xfrm>
            <a:off x="3474720" y="1920240"/>
            <a:ext cx="2331720" cy="2377440"/>
          </a:xfrm>
          <a:prstGeom prst="roundRect">
            <a:avLst>
              <a:gd fmla="val 3922" name="adj"/>
            </a:avLst>
          </a:prstGeom>
          <a:solidFill>
            <a:srgbClr val="162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274820" y="2194560"/>
            <a:ext cx="731520" cy="73152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941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3566160" y="30632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Hybrid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611880" y="361188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Dense (FAISS) + Sparse (BM25)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fused with RRF (k=60)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993892" y="3044952"/>
            <a:ext cx="128016" cy="128016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5"/>
          <p:cNvCxnSpPr/>
          <p:nvPr/>
        </p:nvCxnSpPr>
        <p:spPr>
          <a:xfrm>
            <a:off x="5806440" y="310896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5"/>
          <p:cNvSpPr/>
          <p:nvPr/>
        </p:nvSpPr>
        <p:spPr>
          <a:xfrm>
            <a:off x="6309360" y="1920240"/>
            <a:ext cx="2331720" cy="2377440"/>
          </a:xfrm>
          <a:prstGeom prst="roundRect">
            <a:avLst>
              <a:gd fmla="val 3922" name="adj"/>
            </a:avLst>
          </a:prstGeom>
          <a:solidFill>
            <a:srgbClr val="162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7109460" y="2194560"/>
            <a:ext cx="731520" cy="73152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2" name="Google Shape;1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405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/>
          <p:nvPr/>
        </p:nvSpPr>
        <p:spPr>
          <a:xfrm>
            <a:off x="6400800" y="30632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Reranker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(optional)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446520" y="361188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Cross-encoder re-scores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top-20 → top-5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8828532" y="3044952"/>
            <a:ext cx="128016" cy="128016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" name="Google Shape;176;p5"/>
          <p:cNvCxnSpPr/>
          <p:nvPr/>
        </p:nvCxnSpPr>
        <p:spPr>
          <a:xfrm>
            <a:off x="8641080" y="310896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/>
          <p:nvPr/>
        </p:nvSpPr>
        <p:spPr>
          <a:xfrm>
            <a:off x="9144000" y="1920240"/>
            <a:ext cx="2331720" cy="2377440"/>
          </a:xfrm>
          <a:prstGeom prst="roundRect">
            <a:avLst>
              <a:gd fmla="val 3922" name="adj"/>
            </a:avLst>
          </a:prstGeom>
          <a:solidFill>
            <a:srgbClr val="1628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9944100" y="2194560"/>
            <a:ext cx="731520" cy="73152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08692" y="2359152"/>
            <a:ext cx="402336" cy="40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/>
          <p:nvPr/>
        </p:nvSpPr>
        <p:spPr>
          <a:xfrm>
            <a:off x="9235440" y="306324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Reader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9281160" y="3611880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Grounded generation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or explicit refusal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40080" y="4709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Production model stack (Ollama):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40080" y="50749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›  Embedding: nomic-embed-text  (768-dim, 8k ctx)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40080" y="545896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›  Generation: mistral-nemo  (12B, temp=0)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40080" y="5843016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›  Chunking: 800 chars / 150 overlap, heading-aware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772400" y="4663440"/>
            <a:ext cx="3840480" cy="1691640"/>
          </a:xfrm>
          <a:prstGeom prst="roundRect">
            <a:avLst>
              <a:gd fmla="val 4324" name="adj"/>
            </a:avLst>
          </a:prstGeom>
          <a:solidFill>
            <a:srgbClr val="1A2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8001000" y="486460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81010" y="4944618"/>
            <a:ext cx="297180" cy="29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8595360" y="4800600"/>
            <a:ext cx="28803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Every train/valid query maps to exactly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one gold document — retrieval reduces 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C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8E6C9"/>
                </a:solidFill>
                <a:latin typeface="Calibri"/>
                <a:ea typeface="Calibri"/>
                <a:cs typeface="Calibri"/>
                <a:sym typeface="Calibri"/>
              </a:rPr>
              <a:t>"rank the correct doc first."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2 —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Why Hybrid Retrieval? Dense + Sparse Fail Differently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48640" y="1691640"/>
            <a:ext cx="5349240" cy="361188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2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1600200" y="19842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Dense (FAISS + nomic-embed-text)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868680" y="2651760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✓ Strong: </a:t>
            </a: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paraphrased, conceptual queries</a:t>
            </a:r>
            <a:b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✗ Weak: </a:t>
            </a: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rare identifiers, version strings</a:t>
            </a:r>
            <a:b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  e.g. JSUI-3022, v1.2.17 — embeddings ≈ noise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263640" y="1691640"/>
            <a:ext cx="5349240" cy="3611880"/>
          </a:xfrm>
          <a:prstGeom prst="roundRect">
            <a:avLst>
              <a:gd fmla="val 253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7124" y="20894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7315200" y="1984248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Sparse (BM25Okapi)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583680" y="2651760"/>
            <a:ext cx="4800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✓ Strong: </a:t>
            </a: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exact lexical matches</a:t>
            </a:r>
            <a:b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✗ Weak: </a:t>
            </a:r>
            <a: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vocabulary mismatch, synonyms</a:t>
            </a:r>
            <a:br>
              <a:rPr b="0" i="0" lang="en-US" sz="13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  e.g. no notion of "car" ≈ "automobile"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822960" y="5605272"/>
            <a:ext cx="6949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Fused with Reciprocal Rank Fusion — operates on RANKS, not scores, so scale mismatch (BM25 unbounded vs cosine ∈[-1,1]) never matters: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955280" y="5486400"/>
            <a:ext cx="3474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RRF(d) = Σ 1 / (k + rank)   ·   k = 60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2 —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Metadata Pre-Filter: Narrow Before You Search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Scoring per synthetic doc — tiers tried in order, first non-empty tier wins: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8640" y="1874520"/>
            <a:ext cx="11064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713232" y="1984248"/>
            <a:ext cx="347472" cy="34747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713232" y="198424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≥4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234440" y="1874520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Phrase + version matched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120640" y="1874520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Trust directly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48640" y="2551176"/>
            <a:ext cx="11064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713232" y="2660904"/>
            <a:ext cx="347472" cy="347472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713232" y="266090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≥3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234440" y="2551176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Phrase or prefix+version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5120640" y="2551176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Trust directly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548640" y="3227832"/>
            <a:ext cx="11064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713232" y="3337560"/>
            <a:ext cx="347472" cy="3474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713232" y="333756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≥2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234440" y="3227832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Suffix-only / version-only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120640" y="3227832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Expand to full family if version absent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48640" y="3904488"/>
            <a:ext cx="11064240" cy="566928"/>
          </a:xfrm>
          <a:prstGeom prst="roundRect">
            <a:avLst>
              <a:gd fmla="val 9677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713232" y="4014216"/>
            <a:ext cx="347472" cy="3474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713232" y="401421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≥1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234440" y="3904488"/>
            <a:ext cx="3749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Prefix-only, large set (&gt;6)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120640" y="3904488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Trust; else fall back to full index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fmla="val 5714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822960" y="4956048"/>
            <a:ext cx="914400" cy="91440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51617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7"/>
          <p:cNvSpPr/>
          <p:nvPr/>
        </p:nvSpPr>
        <p:spPr>
          <a:xfrm>
            <a:off x="1965960" y="4864608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Single Biggest Fix: inferred_suffix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1965960" y="5285232"/>
            <a:ext cx="6400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~40% of synthetic docs had product_suffix=None even though it appeared in the doc title. Regex-extracted it from the text header at index time.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778240" y="489204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+18pp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100"/>
              <a:buFont typeface="Cambria"/>
              <a:buNone/>
            </a:pPr>
            <a:r>
              <a:rPr b="0" i="0" lang="en-US" sz="1100" u="none" cap="none" strike="noStrike">
                <a:solidFill>
                  <a:srgbClr val="9FB0CF"/>
                </a:solidFill>
                <a:latin typeface="Cambria"/>
                <a:ea typeface="Cambria"/>
                <a:cs typeface="Cambria"/>
                <a:sym typeface="Cambria"/>
              </a:rPr>
              <a:t>Recall@10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2 —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Two Independent Evaluation Loops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Separating retrieval failure from generation failure is the core methodological decision.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187452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822960" y="256032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Recall@k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22960" y="287121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Gold doc in top-k? Primary signal.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822960" y="344728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Precision@k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822960" y="3758184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Noise in retrieved set.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822960" y="4334256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MRR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22960" y="4645152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Rewards rank 1 over rank 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822960" y="522122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FILTER_KILL taxonomy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822960" y="55321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OK / LATE / MISS / FILTER_KILL — pinpoints exactly why retrieval failed.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6263640" y="1874520"/>
            <a:ext cx="5349240" cy="4160520"/>
          </a:xfrm>
          <a:prstGeom prst="roundRect">
            <a:avLst>
              <a:gd fmla="val 219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1A23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solidFill>
            <a:srgbClr val="5A3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QA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537960" y="256032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ROUGE-2 / ROUGE-L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537960" y="2871216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Bigram + LCS overlap — replaced Exact Match (always 0).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537960" y="3447288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Token F1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6537960" y="3758184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Unigram precision/recall, primary metric.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6537960" y="4334256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Answer Coverage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537960" y="4645152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Recall-weighted — are all facts present?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537960" y="5221224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Refusal Rate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537960" y="55321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Diagnostic for over-caution &amp; context truncation.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3 —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Retrieval Progression: 0.71 → 0.90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9"/>
          <p:cNvGraphicFramePr/>
          <p:nvPr/>
        </p:nvGraphicFramePr>
        <p:xfrm>
          <a:off x="548640" y="1554480"/>
          <a:ext cx="6949440" cy="40233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0" name="Google Shape;290;p9"/>
          <p:cNvSpPr/>
          <p:nvPr/>
        </p:nvSpPr>
        <p:spPr>
          <a:xfrm>
            <a:off x="7726680" y="1554480"/>
            <a:ext cx="3886200" cy="4023360"/>
          </a:xfrm>
          <a:prstGeom prst="roundRect">
            <a:avLst>
              <a:gd fmla="val 2353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8001000" y="1783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THE TURNING 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inferred_suffix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001000" y="260604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Resolved 9 of 13 FILTER_KILLs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in a single index-time fix 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no retrieval logic changed.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9"/>
          <p:cNvCxnSpPr/>
          <p:nvPr/>
        </p:nvCxnSpPr>
        <p:spPr>
          <a:xfrm>
            <a:off x="8001000" y="3611880"/>
            <a:ext cx="338328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9"/>
          <p:cNvSpPr/>
          <p:nvPr/>
        </p:nvSpPr>
        <p:spPr>
          <a:xfrm>
            <a:off x="8001000" y="379476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26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26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i="0" lang="en-US" sz="26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FILTER_KILL count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>
            <a:off x="8001000" y="4709160"/>
            <a:ext cx="338328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9"/>
          <p:cNvSpPr/>
          <p:nvPr/>
        </p:nvSpPr>
        <p:spPr>
          <a:xfrm>
            <a:off x="8001000" y="484632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mxbai had better R@1 but a 512-token limit truncated 800-char chunks → worse R@10. nomic-embed-text won on coverage.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3 —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Final Retrieval Failure Breakdown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548640" y="128016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Valid set, n = 49 — best configuration (nomic + inferred_suffix)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0"/>
          <p:cNvGraphicFramePr/>
          <p:nvPr/>
        </p:nvGraphicFramePr>
        <p:xfrm>
          <a:off x="548640" y="1783080"/>
          <a:ext cx="493776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309" name="Google Shape;309;p10"/>
          <p:cNvSpPr/>
          <p:nvPr/>
        </p:nvSpPr>
        <p:spPr>
          <a:xfrm>
            <a:off x="5943600" y="1920240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1611" y="200825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6629400" y="190195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OK — 35 queries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629400" y="22860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Gold doc at rank 1. Reader-only territory from here.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5943600" y="3246120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4" name="Google Shape;31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1611" y="333413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0"/>
          <p:cNvSpPr/>
          <p:nvPr/>
        </p:nvSpPr>
        <p:spPr>
          <a:xfrm>
            <a:off x="6629400" y="322783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LATE — 9 queries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629400" y="361188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Gold doc found, not first. Reranker territory — but our 0.6B reranker couldn't capitalize on 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943600" y="4572000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8" name="Google Shape;3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1611" y="4660011"/>
            <a:ext cx="326898" cy="32689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0"/>
          <p:cNvSpPr/>
          <p:nvPr/>
        </p:nvSpPr>
        <p:spPr>
          <a:xfrm>
            <a:off x="6629400" y="455371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FILTER_KILL — 5 queries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629400" y="493776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Metadata filter excluded the gold doc. Root causes: no metadata at all, or ambiguous inferred suffix.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3 — RESULTS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Reader Models: Refusal Rate Decides the Winner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548640" y="12801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train_b (41 questions) — identical retrieval, model swapped only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" name="Google Shape;331;p11"/>
          <p:cNvGraphicFramePr/>
          <p:nvPr/>
        </p:nvGraphicFramePr>
        <p:xfrm>
          <a:off x="54864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{D9653FC7-9D99-4665-8A9A-9E626BB3FD08}</a:tableStyleId>
              </a:tblPr>
              <a:tblGrid>
                <a:gridCol w="2377450"/>
                <a:gridCol w="1645925"/>
                <a:gridCol w="164592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mistral-nemo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qwen2.5:14b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F1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B6A8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B6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ROUGE-2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B6A8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B6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0.188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0.180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Answer Coverage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B6A8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B6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0.387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Refusal Rate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B6A8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FB6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9.8 </a:t>
                      </a:r>
                      <a:r>
                        <a:rPr b="1" lang="en-US" sz="1250">
                          <a:solidFill>
                            <a:srgbClr val="1FB6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 sz="1250">
                        <a:solidFill>
                          <a:srgbClr val="1A2333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43.9%</a:t>
                      </a:r>
                      <a:endParaRPr b="1" sz="1250">
                        <a:solidFill>
                          <a:srgbClr val="1FB6A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p11"/>
          <p:cNvSpPr/>
          <p:nvPr/>
        </p:nvSpPr>
        <p:spPr>
          <a:xfrm>
            <a:off x="6583680" y="1828800"/>
            <a:ext cx="5029200" cy="4114800"/>
          </a:xfrm>
          <a:prstGeom prst="roundRect">
            <a:avLst>
              <a:gd fmla="val 2222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6858000" y="2057400"/>
            <a:ext cx="548640" cy="548640"/>
          </a:xfrm>
          <a:prstGeom prst="ellipse">
            <a:avLst/>
          </a:prstGeom>
          <a:solidFill>
            <a:srgbClr val="5A3A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4" name="Google Shape;3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1444" y="21808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1"/>
          <p:cNvSpPr/>
          <p:nvPr/>
        </p:nvSpPr>
        <p:spPr>
          <a:xfrm>
            <a:off x="7589520" y="21031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4.5× higher refusal under qwen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6858000" y="269748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Root cause: max_tokens=None and num_ctx=None default to a small Ollama context window — silently truncating the 5 retrieved chunks before generation.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11"/>
          <p:cNvCxnSpPr/>
          <p:nvPr/>
        </p:nvCxnSpPr>
        <p:spPr>
          <a:xfrm>
            <a:off x="6858000" y="379476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1"/>
          <p:cNvSpPr/>
          <p:nvPr/>
        </p:nvSpPr>
        <p:spPr>
          <a:xfrm>
            <a:off x="6858000" y="393192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The fix (ctx_fix): explicit num_ctx=16384, max_tokens=8192 — eliminated silent truncation across all models.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11"/>
          <p:cNvCxnSpPr/>
          <p:nvPr/>
        </p:nvCxnSpPr>
        <p:spPr>
          <a:xfrm>
            <a:off x="6858000" y="4846320"/>
            <a:ext cx="448056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0" name="Google Shape;340;p11"/>
          <p:cNvSpPr/>
          <p:nvPr/>
        </p:nvSpPr>
        <p:spPr>
          <a:xfrm>
            <a:off x="6858000" y="4983480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FB0CF"/>
                </a:solidFill>
                <a:latin typeface="Calibri"/>
                <a:ea typeface="Calibri"/>
                <a:cs typeface="Calibri"/>
                <a:sym typeface="Calibri"/>
              </a:rPr>
              <a:t>mistral-nemo selected for production: more reliable + avoids the RTX 5090 thermal crash seen with qwen2.5:14b on sustained workloads.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4 —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32 Experiments, Documented Honestly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Wins and negative results both carry signal — here's the shape of the 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548640" y="17830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04" y="20665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2"/>
          <p:cNvSpPr/>
          <p:nvPr/>
        </p:nvSpPr>
        <p:spPr>
          <a:xfrm>
            <a:off x="1371600" y="19476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Retrieval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1371600" y="224028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6 experiments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731520" y="258775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Embedder swap, filter logic, inferred_suffix, top_k ablation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4343400" y="17830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4526280" y="196596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864" y="20665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2"/>
          <p:cNvSpPr/>
          <p:nvPr/>
        </p:nvSpPr>
        <p:spPr>
          <a:xfrm>
            <a:off x="5166360" y="19476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Reader/Generation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166360" y="224028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9 experiments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4526280" y="258775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Context bug, cautious mode, model comparison, thermal crash workaround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8138160" y="17830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8321040" y="196596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1624" y="206654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/>
          <p:nvPr/>
        </p:nvSpPr>
        <p:spPr>
          <a:xfrm>
            <a:off x="8961120" y="194767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Reranker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8961120" y="224028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4 experiments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8321040" y="258775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Ollama binary scoring, vLLM logprobs, 0.6B model capacity limit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48640" y="352044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2104" y="38039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1371600" y="36850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vLLM Migration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371600" y="39776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6 experiments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731520" y="432511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Batch embeddings, AWQ quantization, OOM troubleshooting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343400" y="352044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526280" y="370332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6864" y="38039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/>
          <p:nvPr/>
        </p:nvSpPr>
        <p:spPr>
          <a:xfrm>
            <a:off x="5166360" y="36850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/>
          <p:nvPr/>
        </p:nvSpPr>
        <p:spPr>
          <a:xfrm>
            <a:off x="5166360" y="39776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3 changes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4526280" y="432511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Dropped Exact Match, added ROUGE-2/L, FILTER_KILL taxonomy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8138160" y="352044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8321040" y="3703320"/>
            <a:ext cx="502920" cy="50292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1624" y="380390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2"/>
          <p:cNvSpPr/>
          <p:nvPr/>
        </p:nvSpPr>
        <p:spPr>
          <a:xfrm>
            <a:off x="8961120" y="3685032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Bugs Found &amp; Fixed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8961120" y="397764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5D5D"/>
                </a:solidFill>
                <a:latin typeface="Calibri"/>
                <a:ea typeface="Calibri"/>
                <a:cs typeface="Calibri"/>
                <a:sym typeface="Calibri"/>
              </a:rPr>
              <a:t>4 fixes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8321040" y="432511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UnboundLocalError, dead code path, duplicate constants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3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4 —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48640" y="64008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The Reranker Story: Two Different Failures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C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20208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3"/>
          <p:cNvSpPr/>
          <p:nvPr/>
        </p:nvSpPr>
        <p:spPr>
          <a:xfrm>
            <a:off x="1463040" y="193852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Attempt 1: Ollama, binary scoring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822960" y="246888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Ollama's chat API exposes no log-probabilities. Reranker forced into yes/no text parsing — a hard 1.0/0.0 filter, not a ranking. Falls back to neutral (0.5) as we were unable to parse the </a:t>
            </a:r>
            <a:r>
              <a:rPr lang="en-US" sz="1150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Yes/No strings.</a:t>
            </a: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822960" y="324612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token_f1  </a:t>
            </a:r>
            <a:r>
              <a:rPr b="1" lang="en-US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~0 </a:t>
            </a:r>
            <a:r>
              <a:rPr b="1" i="0" lang="en-US" sz="14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pp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3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fmla="val 4651" name="adj"/>
            </a:avLst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6537960" y="19202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4" name="Google Shape;4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8544" y="202082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3"/>
          <p:cNvSpPr/>
          <p:nvPr/>
        </p:nvSpPr>
        <p:spPr>
          <a:xfrm>
            <a:off x="7178040" y="193852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Attempt 2: vLLM, continuous logprobs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6537960" y="246888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Fixed the API limitation — logprobs=20 gives real scores. Still 0.6B model: relevance judgments too noisy to separate correct from incorrect chunks.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6537960" y="324612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token_f1  −0.3pp (3 wins / 6 losses)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48640" y="3931920"/>
            <a:ext cx="11064240" cy="2194560"/>
          </a:xfrm>
          <a:prstGeom prst="roundRect">
            <a:avLst>
              <a:gd fmla="val 4167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868680" y="4206240"/>
            <a:ext cx="777240" cy="77724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559" y="4381119"/>
            <a:ext cx="427482" cy="427482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3"/>
          <p:cNvSpPr/>
          <p:nvPr/>
        </p:nvSpPr>
        <p:spPr>
          <a:xfrm>
            <a:off x="1920240" y="4206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The Real Insight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920240" y="4617720"/>
            <a:ext cx="9052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CE6F7"/>
                </a:solidFill>
                <a:latin typeface="Calibri"/>
                <a:ea typeface="Calibri"/>
                <a:cs typeface="Calibri"/>
                <a:sym typeface="Calibri"/>
              </a:rPr>
              <a:t>Continuous scoring is necessary but not sufficient. A small reranker's logprob gap between a correct and incorrect chunk is often within numerical noise — fixing the API doesn't fix model capacity. The 4B re-ranker with vLLM logprobs is the open hypothesis, untested due to a 24GB VRAM ceiling alongside the other two servers.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4 —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vLLM Migration: Confirmed Benefits, One Confound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548640" y="1600200"/>
            <a:ext cx="36118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/>
          <p:nvPr/>
        </p:nvSpPr>
        <p:spPr>
          <a:xfrm>
            <a:off x="1325880" y="176479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Batch Embeddings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777240" y="22402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32,903 sequential Ollama calls → single GPU-batched calls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4343400" y="1600200"/>
            <a:ext cx="36118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4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5120640" y="176479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No Context Truncation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4572000" y="22402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Explicit --max-model-len makes silent truncation impossible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138160" y="1600200"/>
            <a:ext cx="361188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4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EA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4" name="Google Shape;43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0" y="18745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14"/>
          <p:cNvSpPr/>
          <p:nvPr/>
        </p:nvSpPr>
        <p:spPr>
          <a:xfrm>
            <a:off x="8915400" y="176479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Real Logprobs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8366760" y="22402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logprobs=N on completions — fixes the reranker's API gap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7" name="Google Shape;437;p14"/>
          <p:cNvGraphicFramePr/>
          <p:nvPr/>
        </p:nvGraphicFramePr>
        <p:xfrm>
          <a:off x="54864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{D9653FC7-9D99-4665-8A9A-9E626BB3FD08}</a:tableStyleId>
              </a:tblPr>
              <a:tblGrid>
                <a:gridCol w="2103125"/>
                <a:gridCol w="1645925"/>
                <a:gridCol w="164592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 (full prec.)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vLLM AWQ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B33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0.735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Recall@10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0.898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Token F1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0.319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Refusal Rate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16.3%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28.6%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6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38" name="Google Shape;438;p14"/>
          <p:cNvSpPr/>
          <p:nvPr/>
        </p:nvSpPr>
        <p:spPr>
          <a:xfrm>
            <a:off x="6172200" y="3246120"/>
            <a:ext cx="5440680" cy="2743200"/>
          </a:xfrm>
          <a:prstGeom prst="roundRect">
            <a:avLst>
              <a:gd fmla="val 3333" name="adj"/>
            </a:avLst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6400800" y="34564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0" name="Google Shape;44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2240" y="35478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14"/>
          <p:cNvSpPr/>
          <p:nvPr/>
        </p:nvSpPr>
        <p:spPr>
          <a:xfrm>
            <a:off x="6995160" y="349300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Confound: AWQ Quantization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6400800" y="393192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Full-precision mistral-nemo OOM'd alongside the embedder + reranker on 24GB. Had to use AWQ 4-bit (~7GB) — and quantization independently increases refusal rate (same pattern seen with qwen).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400800" y="49377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Net: +9 questions answered (no-truncation benefit, real) vs. +4 newly refused (AWQ conservatism) — two real effects pulling opposite ways.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5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4 — EXPERIMENTS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548640" y="64008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Bonus Queries: Where the System Breaks Cleanly — and Where It Doesn't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713232" y="1764792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87" y="1860347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5"/>
          <p:cNvSpPr/>
          <p:nvPr/>
        </p:nvSpPr>
        <p:spPr>
          <a:xfrm>
            <a:off x="1371600" y="1673352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Secure my CI/CD?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5"/>
          <p:cNvSpPr/>
          <p:nvPr/>
        </p:nvSpPr>
        <p:spPr>
          <a:xfrm>
            <a:off x="1371600" y="2020824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Answered well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349240" y="1600200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Correctly identified Yaris 4PV with justification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48640" y="2551176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713232" y="2715768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1" name="Google Shape;4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87" y="2811323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5"/>
          <p:cNvSpPr/>
          <p:nvPr/>
        </p:nvSpPr>
        <p:spPr>
          <a:xfrm>
            <a:off x="1371600" y="262432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Meridian vs Sentry?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1371600" y="29718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mbria"/>
                <a:ea typeface="Cambria"/>
                <a:cs typeface="Cambria"/>
                <a:sym typeface="Cambria"/>
              </a:rPr>
              <a:t>Correct refusal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/>
          <p:nvPr/>
        </p:nvSpPr>
        <p:spPr>
          <a:xfrm>
            <a:off x="5349240" y="2551176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Sentry absent from corpus — explained why, then refused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548640" y="3502152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713232" y="3666744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87" y="3762299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5"/>
          <p:cNvSpPr/>
          <p:nvPr/>
        </p:nvSpPr>
        <p:spPr>
          <a:xfrm>
            <a:off x="1371600" y="3575304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How many Meridian versions?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1371600" y="392277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Partial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5349240" y="3502152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Found 4 of 29 — limited by top_k, not a logic error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548640" y="4453128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713232" y="4617720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87" y="4713275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1371600" y="45262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Cheapest product? / key-value stores?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1371600" y="48737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Refused (appropriately)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5349240" y="4453128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Needs full 977-doc scan — beyond standard top-k RAG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548640" y="5404104"/>
            <a:ext cx="11064240" cy="841248"/>
          </a:xfrm>
          <a:prstGeom prst="roundRect">
            <a:avLst>
              <a:gd fmla="val 6522" name="adj"/>
            </a:avLst>
          </a:prstGeom>
          <a:solidFill>
            <a:srgbClr val="FFFFFF"/>
          </a:solidFill>
          <a:ln cap="flat" cmpd="sng" w="12700">
            <a:solidFill>
              <a:srgbClr val="E1E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713232" y="5568696"/>
            <a:ext cx="502920" cy="502920"/>
          </a:xfrm>
          <a:prstGeom prst="ellipse">
            <a:avLst/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9" name="Google Shape;47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787" y="5664251"/>
            <a:ext cx="311810" cy="31181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5"/>
          <p:cNvSpPr/>
          <p:nvPr/>
        </p:nvSpPr>
        <p:spPr>
          <a:xfrm>
            <a:off x="1371600" y="5477256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Main features of DynamoDB?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1371600" y="58247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D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E85D5D"/>
                </a:solidFill>
                <a:latin typeface="Cambria"/>
                <a:ea typeface="Cambria"/>
                <a:cs typeface="Cambria"/>
                <a:sym typeface="Cambria"/>
              </a:rPr>
              <a:t>HALLUCINATION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5349240" y="5404104"/>
            <a:ext cx="61264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Retrieved unrelated Coveo docs, answered from them anyway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3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6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PART 5 — HONEST ACCOUNTING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What's Still Broken, and Why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6284A"/>
          </a:solidFill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6"/>
          <p:cNvSpPr/>
          <p:nvPr/>
        </p:nvSpPr>
        <p:spPr>
          <a:xfrm>
            <a:off x="1188720" y="1673352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Remaining FILTER_KILLs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/>
          <p:nvPr/>
        </p:nvSpPr>
        <p:spPr>
          <a:xfrm>
            <a:off x="5577840" y="1673352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5 docs with no metadata at all, or ambiguous digit-letter suffixes (07H, 1ME)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6284A"/>
          </a:solidFill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/>
          <p:nvPr/>
        </p:nvSpPr>
        <p:spPr>
          <a:xfrm>
            <a:off x="548640" y="25328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1188720" y="251460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Model-dependent over-refusal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/>
          <p:nvPr/>
        </p:nvSpPr>
        <p:spPr>
          <a:xfrm>
            <a:off x="5577840" y="25146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10% (mistral) vs 44% (qwen) — traced to KV cache pressure, not prompt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6284A"/>
          </a:solidFill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/>
          <p:nvPr/>
        </p:nvSpPr>
        <p:spPr>
          <a:xfrm>
            <a:off x="548640" y="3374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1188720" y="3355848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DynamoDB-style hallucination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5577840" y="3355848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No topic-coherence check — retriever returns noise-floor docs, reader answers anyway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16284A"/>
          </a:solidFill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6"/>
          <p:cNvSpPr/>
          <p:nvPr/>
        </p:nvSpPr>
        <p:spPr>
          <a:xfrm>
            <a:off x="548640" y="42153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1188720" y="4197096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Re-ranker capacity ceiling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5577840" y="4197096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0.6B model: logprobs fixed the API, not the underlying judgment quality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16284A"/>
          </a:solidFill>
          <a:ln cap="flat" cmpd="sng" w="1905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6"/>
          <p:cNvSpPr/>
          <p:nvPr/>
        </p:nvSpPr>
        <p:spPr>
          <a:xfrm>
            <a:off x="548640" y="5056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8FD9D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188720" y="5038344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 multi-document reasoning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5577840" y="5038344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4E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8D4EE"/>
                </a:solidFill>
                <a:latin typeface="Calibri"/>
                <a:ea typeface="Calibri"/>
                <a:cs typeface="Calibri"/>
                <a:sym typeface="Calibri"/>
              </a:rPr>
              <a:t>Standard top-k RAG can't aggregate across all 977 synthetic docs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7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5 — HONEST ACCOUNTING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Quick Ablation: Does More Context Help LATE Queries?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Hypothesis: top_k_reader 5 → 10 should rescue queries whose gold doc sits at rank 6–10.  Tested on the 8 isolated LATE queries.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2" name="Google Shape;522;p17"/>
          <p:cNvGraphicFramePr/>
          <p:nvPr/>
        </p:nvGraphicFramePr>
        <p:xfrm>
          <a:off x="548640" y="1965960"/>
          <a:ext cx="6035040" cy="393192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23" name="Google Shape;523;p17"/>
          <p:cNvSpPr/>
          <p:nvPr/>
        </p:nvSpPr>
        <p:spPr>
          <a:xfrm>
            <a:off x="6812280" y="1965960"/>
            <a:ext cx="4800600" cy="3931920"/>
          </a:xfrm>
          <a:prstGeom prst="roundRect">
            <a:avLst>
              <a:gd fmla="val 2326" name="adj"/>
            </a:avLst>
          </a:prstGeom>
          <a:solidFill>
            <a:srgbClr val="0F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7"/>
          <p:cNvSpPr/>
          <p:nvPr/>
        </p:nvSpPr>
        <p:spPr>
          <a:xfrm>
            <a:off x="7086600" y="2194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6328" y="230428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7"/>
          <p:cNvSpPr/>
          <p:nvPr/>
        </p:nvSpPr>
        <p:spPr>
          <a:xfrm>
            <a:off x="7818120" y="224028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Hypothesis Rejected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7086600" y="2743200"/>
            <a:ext cx="4297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6F7"/>
                </a:solidFill>
                <a:latin typeface="Calibri"/>
                <a:ea typeface="Calibri"/>
                <a:cs typeface="Calibri"/>
                <a:sym typeface="Calibri"/>
              </a:rPr>
              <a:t>Token F1 dropped −5.5pp, ROUGE-L dropped −3.5pp. Only 1 of 8 queries (the one structurally invisible at k=5) clearly benefited.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8" name="Google Shape;528;p17"/>
          <p:cNvCxnSpPr/>
          <p:nvPr/>
        </p:nvCxnSpPr>
        <p:spPr>
          <a:xfrm>
            <a:off x="7086600" y="3611880"/>
            <a:ext cx="429768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9" name="Google Shape;529;p17"/>
          <p:cNvSpPr/>
          <p:nvPr/>
        </p:nvSpPr>
        <p:spPr>
          <a:xfrm>
            <a:off x="7086600" y="3749040"/>
            <a:ext cx="4297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CE6F7"/>
                </a:solidFill>
                <a:latin typeface="Calibri"/>
                <a:ea typeface="Calibri"/>
                <a:cs typeface="Calibri"/>
                <a:sym typeface="Calibri"/>
              </a:rPr>
              <a:t>Coverage actually rose (+6.3pp) — model includes more content but loses precision. Classic context dilution with an "exhaustive" prompt style.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0" name="Google Shape;530;p17"/>
          <p:cNvCxnSpPr/>
          <p:nvPr/>
        </p:nvCxnSpPr>
        <p:spPr>
          <a:xfrm>
            <a:off x="7086600" y="4709160"/>
            <a:ext cx="4297680" cy="0"/>
          </a:xfrm>
          <a:prstGeom prst="straightConnector1">
            <a:avLst/>
          </a:prstGeom>
          <a:noFill/>
          <a:ln cap="flat" cmpd="sng" w="12700">
            <a:solidFill>
              <a:srgbClr val="2A3F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1" name="Google Shape;531;p17"/>
          <p:cNvSpPr/>
          <p:nvPr/>
        </p:nvSpPr>
        <p:spPr>
          <a:xfrm>
            <a:off x="7086600" y="4846320"/>
            <a:ext cx="4297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Validates top_k_reader=5 as a reasonable choice — and reframes the reranker (narrow to the RIGHT 5) as the correct lever, not raising 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8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PART 6 —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Prioritized Next Steps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B6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B6A8"/>
                </a:solidFill>
                <a:latin typeface="Calibri"/>
                <a:ea typeface="Calibri"/>
                <a:cs typeface="Calibri"/>
                <a:sym typeface="Calibri"/>
              </a:rPr>
              <a:t>HIGH LEVERAGE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548640" y="1783080"/>
            <a:ext cx="64008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8"/>
          <p:cNvSpPr/>
          <p:nvPr/>
        </p:nvSpPr>
        <p:spPr>
          <a:xfrm>
            <a:off x="777240" y="1965960"/>
            <a:ext cx="365760" cy="36576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8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1325880" y="1892808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Topic-coherence check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8"/>
          <p:cNvSpPr/>
          <p:nvPr/>
        </p:nvSpPr>
        <p:spPr>
          <a:xfrm>
            <a:off x="1325880" y="2240280"/>
            <a:ext cx="5440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Cosine(query, top chunk) &lt; 0.3 → refuse before generation. Fixes DynamoDB hallucination directly.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8"/>
          <p:cNvSpPr/>
          <p:nvPr/>
        </p:nvSpPr>
        <p:spPr>
          <a:xfrm>
            <a:off x="548640" y="3063240"/>
            <a:ext cx="64008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8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"/>
          <p:cNvSpPr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8"/>
          <p:cNvSpPr/>
          <p:nvPr/>
        </p:nvSpPr>
        <p:spPr>
          <a:xfrm>
            <a:off x="1325880" y="3172968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Confidence-based filter fallback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8"/>
          <p:cNvSpPr/>
          <p:nvPr/>
        </p:nvSpPr>
        <p:spPr>
          <a:xfrm>
            <a:off x="1325880" y="3520440"/>
            <a:ext cx="5440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If top score ≤ 0.02, retry on full index. Targets remaining FILTER_KILLs.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"/>
          <p:cNvSpPr/>
          <p:nvPr/>
        </p:nvSpPr>
        <p:spPr>
          <a:xfrm>
            <a:off x="548640" y="4343400"/>
            <a:ext cx="640080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8"/>
          <p:cNvSpPr/>
          <p:nvPr/>
        </p:nvSpPr>
        <p:spPr>
          <a:xfrm>
            <a:off x="777240" y="4526280"/>
            <a:ext cx="365760" cy="365760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8"/>
          <p:cNvSpPr/>
          <p:nvPr/>
        </p:nvSpPr>
        <p:spPr>
          <a:xfrm>
            <a:off x="777240" y="45262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1325880" y="4453128"/>
            <a:ext cx="5440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4B reranker, dedicated run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1325880" y="4800600"/>
            <a:ext cx="5440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Isolate from embedder/reader to fit 24GB. Tests if capacity (not API) was the limiter.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726948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MEDIUM LEVERAGE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8"/>
          <p:cNvSpPr/>
          <p:nvPr/>
        </p:nvSpPr>
        <p:spPr>
          <a:xfrm>
            <a:off x="7269480" y="1783080"/>
            <a:ext cx="43434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8"/>
          <p:cNvSpPr/>
          <p:nvPr/>
        </p:nvSpPr>
        <p:spPr>
          <a:xfrm>
            <a:off x="7498080" y="1965960"/>
            <a:ext cx="411480" cy="411480"/>
          </a:xfrm>
          <a:prstGeom prst="ellipse">
            <a:avLst/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0" name="Google Shape;5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376" y="20482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18"/>
          <p:cNvSpPr/>
          <p:nvPr/>
        </p:nvSpPr>
        <p:spPr>
          <a:xfrm>
            <a:off x="8046720" y="19476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Structured pricing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8"/>
          <p:cNvSpPr/>
          <p:nvPr/>
        </p:nvSpPr>
        <p:spPr>
          <a:xfrm>
            <a:off x="7498080" y="244144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Parse product sections at index time — bypasses retrieval for aggregation queries.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8"/>
          <p:cNvSpPr/>
          <p:nvPr/>
        </p:nvSpPr>
        <p:spPr>
          <a:xfrm>
            <a:off x="7269480" y="3383280"/>
            <a:ext cx="43434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A2333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8"/>
          <p:cNvSpPr/>
          <p:nvPr/>
        </p:nvSpPr>
        <p:spPr>
          <a:xfrm>
            <a:off x="7498080" y="3566160"/>
            <a:ext cx="411480" cy="411480"/>
          </a:xfrm>
          <a:prstGeom prst="ellipse">
            <a:avLst/>
          </a:prstGeom>
          <a:solidFill>
            <a:srgbClr val="FDF1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5" name="Google Shape;5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376" y="36484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8"/>
          <p:cNvSpPr/>
          <p:nvPr/>
        </p:nvSpPr>
        <p:spPr>
          <a:xfrm>
            <a:off x="8046720" y="354787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Full-precision vLLM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8"/>
          <p:cNvSpPr/>
          <p:nvPr/>
        </p:nvSpPr>
        <p:spPr>
          <a:xfrm>
            <a:off x="7498080" y="404164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Needs 40GB+ GPU to cleanly separate backend effect from quantization effect.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/>
          <p:nvPr/>
        </p:nvSpPr>
        <p:spPr>
          <a:xfrm>
            <a:off x="7269480" y="5029200"/>
            <a:ext cx="4343400" cy="960120"/>
          </a:xfrm>
          <a:prstGeom prst="roundRect">
            <a:avLst>
              <a:gd fmla="val 7619" name="adj"/>
            </a:avLst>
          </a:prstGeom>
          <a:solidFill>
            <a:srgbClr val="F2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8"/>
          <p:cNvSpPr/>
          <p:nvPr/>
        </p:nvSpPr>
        <p:spPr>
          <a:xfrm>
            <a:off x="7498080" y="516636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LOWER PRIORITY: sentence-aware chunking, BERTScore, doc_id verification, hard-negative embedding fine-tuning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8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33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/>
          <p:nvPr/>
        </p:nvSpPr>
        <p:spPr>
          <a:xfrm>
            <a:off x="8778240" y="822960"/>
            <a:ext cx="109728" cy="109728"/>
          </a:xfrm>
          <a:prstGeom prst="ellipse">
            <a:avLst/>
          </a:prstGeom>
          <a:solidFill>
            <a:srgbClr val="1FB6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9372600" y="822960"/>
            <a:ext cx="109728" cy="109728"/>
          </a:xfrm>
          <a:prstGeom prst="ellipse">
            <a:avLst/>
          </a:prstGeom>
          <a:solidFill>
            <a:srgbClr val="1FB6A8">
              <a:alpha val="3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9966960" y="822960"/>
            <a:ext cx="109728" cy="109728"/>
          </a:xfrm>
          <a:prstGeom prst="ellipse">
            <a:avLst/>
          </a:prstGeom>
          <a:solidFill>
            <a:srgbClr val="1FB6A8">
              <a:alpha val="2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10561320" y="822960"/>
            <a:ext cx="109728" cy="109728"/>
          </a:xfrm>
          <a:prstGeom prst="ellipse">
            <a:avLst/>
          </a:prstGeom>
          <a:solidFill>
            <a:srgbClr val="1FB6A8">
              <a:alpha val="2117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11155680" y="822960"/>
            <a:ext cx="109728" cy="109728"/>
          </a:xfrm>
          <a:prstGeom prst="ellipse">
            <a:avLst/>
          </a:prstGeom>
          <a:solidFill>
            <a:srgbClr val="1FB6A8">
              <a:alpha val="1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0"/>
          <p:cNvSpPr/>
          <p:nvPr/>
        </p:nvSpPr>
        <p:spPr>
          <a:xfrm>
            <a:off x="731520" y="24688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9D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FD9D1"/>
                </a:solidFill>
                <a:latin typeface="Calibri"/>
                <a:ea typeface="Calibri"/>
                <a:cs typeface="Calibri"/>
                <a:sym typeface="Calibri"/>
              </a:rPr>
              <a:t>LET'S DISCUSS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0"/>
          <p:cNvSpPr/>
          <p:nvPr/>
        </p:nvSpPr>
        <p:spPr>
          <a:xfrm>
            <a:off x="731520" y="2834640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Questions </a:t>
            </a: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20"/>
          <p:cNvCxnSpPr/>
          <p:nvPr/>
        </p:nvCxnSpPr>
        <p:spPr>
          <a:xfrm>
            <a:off x="731520" y="397764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1FB6A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Coveo QA Challenge  —  Technical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C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2026-06-19T15:26:19Z</dcterms:created>
  <dc:creator>Yassir El Mesbahi</dc:creator>
</cp:coreProperties>
</file>